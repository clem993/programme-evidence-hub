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4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Safety Assessment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Demo programme | A17-03 | Version 0.9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5F7"/>
                </a:solidFill>
                <a:latin typeface="Arial"/>
              </a:rPr>
              <a:t>Illustrative synthetic programme. No real company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1722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8DFE7"/>
                </a:solidFill>
                <a:latin typeface="Arial"/>
              </a:rPr>
              <a:t>2 October 2026 | Safety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3447"/>
                </a:solidFill>
                <a:latin typeface="Arial"/>
              </a:rPr>
              <a:t>Normal-tissue binding identifies a decision-critical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Binding intensity is low, but tissue context and exposure margin are unresolved.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SYNTHETIC DEMONSTRATION DATA | Programme Evidence Hub source artefact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194560" cy="438912"/>
          </a:xfrm>
          <a:prstGeom prst="rect">
            <a:avLst/>
          </a:prstGeom>
          <a:solidFill>
            <a:srgbClr val="2434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3" y="149047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Tissue /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20"/>
            <a:ext cx="1371600" cy="438912"/>
          </a:xfrm>
          <a:prstGeom prst="rect">
            <a:avLst/>
          </a:prstGeom>
          <a:solidFill>
            <a:srgbClr val="2434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8064" y="149047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417320"/>
            <a:ext cx="1828800" cy="438912"/>
          </a:xfrm>
          <a:prstGeom prst="rect">
            <a:avLst/>
          </a:prstGeom>
          <a:solidFill>
            <a:srgbClr val="2434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3" y="1490472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Reproducibility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417320"/>
            <a:ext cx="1920240" cy="438912"/>
          </a:xfrm>
          <a:prstGeom prst="rect">
            <a:avLst/>
          </a:prstGeom>
          <a:solidFill>
            <a:srgbClr val="2434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1490472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Decision relevance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56232"/>
            <a:ext cx="2194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965960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Corneal epithelium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856232"/>
            <a:ext cx="1371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8064" y="196596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856232"/>
            <a:ext cx="1828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9663" y="196596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2/3 donors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856232"/>
            <a:ext cx="1920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1965960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Ocular-risk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59736"/>
            <a:ext cx="2194560" cy="603504"/>
          </a:xfrm>
          <a:prstGeom prst="rect">
            <a:avLst/>
          </a:prstGeom>
          <a:solidFill>
            <a:srgbClr val="F3F5F7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2569464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Activated fibroblasts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459736"/>
            <a:ext cx="1371600" cy="603504"/>
          </a:xfrm>
          <a:prstGeom prst="rect">
            <a:avLst/>
          </a:prstGeom>
          <a:solidFill>
            <a:srgbClr val="F3F5F7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98064" y="2569464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Low-moderate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459736"/>
            <a:ext cx="1828800" cy="603504"/>
          </a:xfrm>
          <a:prstGeom prst="rect">
            <a:avLst/>
          </a:prstGeom>
          <a:solidFill>
            <a:srgbClr val="F3F5F7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9663" y="2569464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3/8 donors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459736"/>
            <a:ext cx="1920240" cy="603504"/>
          </a:xfrm>
          <a:prstGeom prst="rect">
            <a:avLst/>
          </a:prstGeom>
          <a:solidFill>
            <a:srgbClr val="F3F5F7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2569464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Potential stromal binding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063240"/>
            <a:ext cx="2194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3" y="3172968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Platelets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063240"/>
            <a:ext cx="1371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8064" y="317296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No direct binding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063240"/>
            <a:ext cx="18288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9663" y="317296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4 donors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063240"/>
            <a:ext cx="192024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317296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Pilot finding may be indirect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666744"/>
            <a:ext cx="2194560" cy="603504"/>
          </a:xfrm>
          <a:prstGeom prst="rect">
            <a:avLst/>
          </a:prstGeom>
          <a:solidFill>
            <a:srgbClr val="F3F5F7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3" y="377647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Liver / kidney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666744"/>
            <a:ext cx="1371600" cy="603504"/>
          </a:xfrm>
          <a:prstGeom prst="rect">
            <a:avLst/>
          </a:prstGeom>
          <a:solidFill>
            <a:srgbClr val="F3F5F7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98064" y="377647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Negative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666744"/>
            <a:ext cx="1828800" cy="603504"/>
          </a:xfrm>
          <a:prstGeom prst="rect">
            <a:avLst/>
          </a:prstGeom>
          <a:solidFill>
            <a:srgbClr val="F3F5F7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9663" y="377647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3 donors each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666744"/>
            <a:ext cx="1920240" cy="603504"/>
          </a:xfrm>
          <a:prstGeom prst="rect">
            <a:avLst/>
          </a:prstGeom>
          <a:solidFill>
            <a:srgbClr val="F3F5F7"/>
          </a:solidFill>
          <a:ln>
            <a:solidFill>
              <a:srgbClr val="D8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98464" y="3776472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447"/>
                </a:solidFill>
                <a:latin typeface="Arial"/>
              </a:rPr>
              <a:t>No current signal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58200" y="1417320"/>
            <a:ext cx="3063240" cy="2971800"/>
          </a:xfrm>
          <a:prstGeom prst="rect">
            <a:avLst/>
          </a:prstGeom>
          <a:solidFill>
            <a:srgbClr val="EDF3F6"/>
          </a:solidFill>
          <a:ln>
            <a:solidFill>
              <a:srgbClr val="3B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171907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3447"/>
                </a:solidFill>
                <a:latin typeface="Arial"/>
              </a:rPr>
              <a:t>Human judgement required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233172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43447"/>
                </a:solidFill>
                <a:latin typeface="Arial"/>
              </a:rPr>
              <a:t>The system should not convert low-level tissue binding into a pass/fail score. It should retain the tissue, intensity, reproducibility, exposure context and reviewer assessment, then request review against the nomination threshold.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892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Arial"/>
              </a:rPr>
              <a:t>Decision condition: expand the tissue review and define the acceptable exposure margin before final nomination.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3447"/>
                </a:solidFill>
                <a:latin typeface="Arial"/>
              </a:rPr>
              <a:t>Cytokine-release data are reassuring; platelet risk remains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The evidence should be separated rather than collapsed into a single “safety confidence”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SYNTHETIC DEMONSTRATION DATA | Programme Evidence Hub source artefact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29000" cy="3474720"/>
          </a:xfrm>
          <a:prstGeom prst="rect">
            <a:avLst/>
          </a:prstGeom>
          <a:solidFill>
            <a:srgbClr val="F3F5F7"/>
          </a:solidFill>
          <a:ln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6420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3447"/>
                </a:solidFill>
                <a:latin typeface="Arial"/>
              </a:rPr>
              <a:t>Whole-blood cytokine assay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2316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Arial"/>
              </a:rPr>
              <a:t>No signal to 100× cellular EC50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3447"/>
                </a:solidFill>
                <a:latin typeface="Arial"/>
              </a:rPr>
              <a:t>Supports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39" y="37033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Moderate 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3429000" cy="3474720"/>
          </a:xfrm>
          <a:prstGeom prst="rect">
            <a:avLst/>
          </a:prstGeom>
          <a:solidFill>
            <a:srgbClr val="F3F5F7"/>
          </a:solidFill>
          <a:ln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66420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3447"/>
                </a:solidFill>
                <a:latin typeface="Arial"/>
              </a:rPr>
              <a:t>Platelet activation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42316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Arial"/>
              </a:rPr>
              <a:t>No direct activation in vitro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3447"/>
                </a:solidFill>
                <a:latin typeface="Arial"/>
              </a:rPr>
              <a:t>Supports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7033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Moderate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3429000" cy="3474720"/>
          </a:xfrm>
          <a:prstGeom prst="rect">
            <a:avLst/>
          </a:prstGeom>
          <a:solidFill>
            <a:srgbClr val="F3F5F7"/>
          </a:solidFill>
          <a:ln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66420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3447"/>
                </a:solidFill>
                <a:latin typeface="Arial"/>
              </a:rPr>
              <a:t>Pilot repeat-dose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42316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Arial"/>
              </a:rPr>
              <a:t>Reversible thrombocytopenia at highest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63A3A"/>
                </a:solidFill>
                <a:latin typeface="Arial"/>
              </a:rPr>
              <a:t>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7033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Low quality, n=2/group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2180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475569"/>
                </a:solidFill>
                <a:latin typeface="Arial"/>
              </a:rPr>
              <a:t>Open question: is the platelet finding target-mediated, immune-mediated, exposure-related or incidental?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3447"/>
                </a:solidFill>
                <a:latin typeface="Arial"/>
              </a:rPr>
              <a:t>The planned species is not fully informative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Governance must agree an alternative translational safety package and its decision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SYNTHETIC DEMONSTRATION DATA | Programme Evidence Hub source artefact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12080" cy="4389120"/>
          </a:xfrm>
          <a:prstGeom prst="rect">
            <a:avLst/>
          </a:prstGeom>
          <a:solidFill>
            <a:srgbClr val="F3F5F7"/>
          </a:solidFill>
          <a:ln>
            <a:solidFill>
              <a:srgbClr val="243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43447"/>
                </a:solidFill>
                <a:latin typeface="Arial"/>
              </a:rP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Arial"/>
              </a:rPr>
              <a:t>• Cynomolgus binding is weak and inconsistent.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Arial"/>
              </a:rPr>
              <a:t>• Pilot repeat-dose finding is reversible but underpowered.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Arial"/>
              </a:rPr>
              <a:t>• No integrated exposure-to-tissue-binding margin has been agreed.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212080" cy="4389120"/>
          </a:xfrm>
          <a:prstGeom prst="rect">
            <a:avLst/>
          </a:prstGeom>
          <a:solidFill>
            <a:srgbClr val="EDF3F6"/>
          </a:solidFill>
          <a:ln>
            <a:solidFill>
              <a:srgbClr val="3B8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43447"/>
                </a:solidFill>
                <a:latin typeface="Arial"/>
              </a:rPr>
              <a:t>Required before nomination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3447"/>
                </a:solidFill>
                <a:latin typeface="Arial"/>
              </a:rPr>
              <a:t>• Alternative species / ex vivo strategy.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26663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3447"/>
                </a:solidFill>
                <a:latin typeface="Arial"/>
              </a:rPr>
              <a:t>• Exposure-margin framework for relevant human tissues.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21608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3447"/>
                </a:solidFill>
                <a:latin typeface="Arial"/>
              </a:rPr>
              <a:t>• Human review of whether residual uncertainty is acceptable.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16552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3447"/>
                </a:solidFill>
                <a:latin typeface="Arial"/>
              </a:rPr>
              <a:t>• Recorded reconsideration trigger if new class toxicity emerges.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Slides>4</Slides>
</Properties>
</file>

<file path=docProps/core.xml><?xml version="1.0" encoding="utf-8"?>
<cp:coreProperties xmlns:cp="http://schemas.openxmlformats.org/package/2006/metadata/core-properties" xmlns:dc="http://purl.org/dc/elements/1.1/">
  <dc:title>Safety Assessment Update</dc:title>
  <dc:description>All programme details, scientific findings, and organisations are illustrative. No real company or programme data is included.</dc:description>
</cp:coreProperties>
</file>