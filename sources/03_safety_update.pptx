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34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23444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Safety Assessment Update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0574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Project AURORA | A17-03 | Version 0.9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9718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3F5F7"/>
                </a:solidFill>
                <a:latin typeface="Arial"/>
              </a:rPr>
              <a:t>Illustrative synthetic programme. No real company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172200"/>
            <a:ext cx="10789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D8DFE7"/>
                </a:solidFill>
                <a:latin typeface="Arial"/>
              </a:rPr>
              <a:t>2 October 2026 | Safety Sciences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243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064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243447"/>
                </a:solidFill>
                <a:latin typeface="Arial"/>
              </a:rPr>
              <a:t>Normal-tissue binding identifies a decision-critical uncertainty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8755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Arial"/>
              </a:rPr>
              <a:t>Binding intensity is low, but tissue context and exposure margin are unresolved.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37960"/>
            <a:ext cx="11155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Arial"/>
              </a:rPr>
              <a:t>SYNTHETIC DEMONSTRATION DATA | Programme Evidence Hub source artefact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2194560" cy="438912"/>
          </a:xfrm>
          <a:prstGeom prst="rect">
            <a:avLst/>
          </a:prstGeom>
          <a:solidFill>
            <a:srgbClr val="2434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3" y="1490472"/>
            <a:ext cx="208483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Tissue / model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1417320"/>
            <a:ext cx="1371600" cy="438912"/>
          </a:xfrm>
          <a:prstGeom prst="rect">
            <a:avLst/>
          </a:prstGeom>
          <a:solidFill>
            <a:srgbClr val="2434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98064" y="1490472"/>
            <a:ext cx="12618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1417320"/>
            <a:ext cx="1828800" cy="438912"/>
          </a:xfrm>
          <a:prstGeom prst="rect">
            <a:avLst/>
          </a:prstGeom>
          <a:solidFill>
            <a:srgbClr val="2434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69663" y="1490472"/>
            <a:ext cx="17190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Reproducibility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417320"/>
            <a:ext cx="1920240" cy="438912"/>
          </a:xfrm>
          <a:prstGeom prst="rect">
            <a:avLst/>
          </a:prstGeom>
          <a:solidFill>
            <a:srgbClr val="2434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98464" y="1490472"/>
            <a:ext cx="18105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Decision relevance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856232"/>
            <a:ext cx="2194560" cy="603504"/>
          </a:xfrm>
          <a:prstGeom prst="rect">
            <a:avLst/>
          </a:prstGeom>
          <a:solidFill>
            <a:srgbClr val="FFFFFF"/>
          </a:solidFill>
          <a:ln>
            <a:solidFill>
              <a:srgbClr val="D8DF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3" y="1965960"/>
            <a:ext cx="208483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43447"/>
                </a:solidFill>
                <a:latin typeface="Arial"/>
              </a:rPr>
              <a:t>Corneal epithelium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1856232"/>
            <a:ext cx="1371600" cy="603504"/>
          </a:xfrm>
          <a:prstGeom prst="rect">
            <a:avLst/>
          </a:prstGeom>
          <a:solidFill>
            <a:srgbClr val="FFFFFF"/>
          </a:solidFill>
          <a:ln>
            <a:solidFill>
              <a:srgbClr val="D8DF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98064" y="1965960"/>
            <a:ext cx="12618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43447"/>
                </a:solidFill>
                <a:latin typeface="Arial"/>
              </a:rPr>
              <a:t>Low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0" y="1856232"/>
            <a:ext cx="1828800" cy="603504"/>
          </a:xfrm>
          <a:prstGeom prst="rect">
            <a:avLst/>
          </a:prstGeom>
          <a:solidFill>
            <a:srgbClr val="FFFFFF"/>
          </a:solidFill>
          <a:ln>
            <a:solidFill>
              <a:srgbClr val="D8DF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69663" y="1965960"/>
            <a:ext cx="17190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43447"/>
                </a:solidFill>
                <a:latin typeface="Arial"/>
              </a:rPr>
              <a:t>2/3 donors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1856232"/>
            <a:ext cx="1920240" cy="603504"/>
          </a:xfrm>
          <a:prstGeom prst="rect">
            <a:avLst/>
          </a:prstGeom>
          <a:solidFill>
            <a:srgbClr val="FFFFFF"/>
          </a:solidFill>
          <a:ln>
            <a:solidFill>
              <a:srgbClr val="D8DF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98464" y="1965960"/>
            <a:ext cx="1810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43447"/>
                </a:solidFill>
                <a:latin typeface="Arial"/>
              </a:rPr>
              <a:t>Ocular-risk review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459736"/>
            <a:ext cx="2194560" cy="603504"/>
          </a:xfrm>
          <a:prstGeom prst="rect">
            <a:avLst/>
          </a:prstGeom>
          <a:solidFill>
            <a:srgbClr val="F3F5F7"/>
          </a:solidFill>
          <a:ln>
            <a:solidFill>
              <a:srgbClr val="D8DF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3" y="2569464"/>
            <a:ext cx="208483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43447"/>
                </a:solidFill>
                <a:latin typeface="Arial"/>
              </a:rPr>
              <a:t>Activated fibroblasts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0" y="2459736"/>
            <a:ext cx="1371600" cy="603504"/>
          </a:xfrm>
          <a:prstGeom prst="rect">
            <a:avLst/>
          </a:prstGeom>
          <a:solidFill>
            <a:srgbClr val="F3F5F7"/>
          </a:solidFill>
          <a:ln>
            <a:solidFill>
              <a:srgbClr val="D8DF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98064" y="2569464"/>
            <a:ext cx="12618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43447"/>
                </a:solidFill>
                <a:latin typeface="Arial"/>
              </a:rPr>
              <a:t>Low-moderate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0" y="2459736"/>
            <a:ext cx="1828800" cy="603504"/>
          </a:xfrm>
          <a:prstGeom prst="rect">
            <a:avLst/>
          </a:prstGeom>
          <a:solidFill>
            <a:srgbClr val="F3F5F7"/>
          </a:solidFill>
          <a:ln>
            <a:solidFill>
              <a:srgbClr val="D8DF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69663" y="2569464"/>
            <a:ext cx="17190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43447"/>
                </a:solidFill>
                <a:latin typeface="Arial"/>
              </a:rPr>
              <a:t>3/8 donors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0" y="2459736"/>
            <a:ext cx="1920240" cy="603504"/>
          </a:xfrm>
          <a:prstGeom prst="rect">
            <a:avLst/>
          </a:prstGeom>
          <a:solidFill>
            <a:srgbClr val="F3F5F7"/>
          </a:solidFill>
          <a:ln>
            <a:solidFill>
              <a:srgbClr val="D8DF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98464" y="2569464"/>
            <a:ext cx="1810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43447"/>
                </a:solidFill>
                <a:latin typeface="Arial"/>
              </a:rPr>
              <a:t>Potential stromal binding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063240"/>
            <a:ext cx="2194560" cy="603504"/>
          </a:xfrm>
          <a:prstGeom prst="rect">
            <a:avLst/>
          </a:prstGeom>
          <a:solidFill>
            <a:srgbClr val="FFFFFF"/>
          </a:solidFill>
          <a:ln>
            <a:solidFill>
              <a:srgbClr val="D8DF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3" y="3172968"/>
            <a:ext cx="208483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43447"/>
                </a:solidFill>
                <a:latin typeface="Arial"/>
              </a:rPr>
              <a:t>Platelets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0" y="3063240"/>
            <a:ext cx="1371600" cy="603504"/>
          </a:xfrm>
          <a:prstGeom prst="rect">
            <a:avLst/>
          </a:prstGeom>
          <a:solidFill>
            <a:srgbClr val="FFFFFF"/>
          </a:solidFill>
          <a:ln>
            <a:solidFill>
              <a:srgbClr val="D8DF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98064" y="3172968"/>
            <a:ext cx="12618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43447"/>
                </a:solidFill>
                <a:latin typeface="Arial"/>
              </a:rPr>
              <a:t>No direct binding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3063240"/>
            <a:ext cx="1828800" cy="603504"/>
          </a:xfrm>
          <a:prstGeom prst="rect">
            <a:avLst/>
          </a:prstGeom>
          <a:solidFill>
            <a:srgbClr val="FFFFFF"/>
          </a:solidFill>
          <a:ln>
            <a:solidFill>
              <a:srgbClr val="D8DF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69663" y="3172968"/>
            <a:ext cx="17190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43447"/>
                </a:solidFill>
                <a:latin typeface="Arial"/>
              </a:rPr>
              <a:t>4 donors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3063240"/>
            <a:ext cx="1920240" cy="603504"/>
          </a:xfrm>
          <a:prstGeom prst="rect">
            <a:avLst/>
          </a:prstGeom>
          <a:solidFill>
            <a:srgbClr val="FFFFFF"/>
          </a:solidFill>
          <a:ln>
            <a:solidFill>
              <a:srgbClr val="D8DF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98464" y="3172968"/>
            <a:ext cx="1810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43447"/>
                </a:solidFill>
                <a:latin typeface="Arial"/>
              </a:rPr>
              <a:t>Pilot finding may be indirect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3666744"/>
            <a:ext cx="2194560" cy="603504"/>
          </a:xfrm>
          <a:prstGeom prst="rect">
            <a:avLst/>
          </a:prstGeom>
          <a:solidFill>
            <a:srgbClr val="F3F5F7"/>
          </a:solidFill>
          <a:ln>
            <a:solidFill>
              <a:srgbClr val="D8DF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3503" y="3776472"/>
            <a:ext cx="208483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43447"/>
                </a:solidFill>
                <a:latin typeface="Arial"/>
              </a:rPr>
              <a:t>Liver / kidney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0" y="3666744"/>
            <a:ext cx="1371600" cy="603504"/>
          </a:xfrm>
          <a:prstGeom prst="rect">
            <a:avLst/>
          </a:prstGeom>
          <a:solidFill>
            <a:srgbClr val="F3F5F7"/>
          </a:solidFill>
          <a:ln>
            <a:solidFill>
              <a:srgbClr val="D8DF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98064" y="3776472"/>
            <a:ext cx="12618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43447"/>
                </a:solidFill>
                <a:latin typeface="Arial"/>
              </a:rPr>
              <a:t>Negative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0" y="3666744"/>
            <a:ext cx="1828800" cy="603504"/>
          </a:xfrm>
          <a:prstGeom prst="rect">
            <a:avLst/>
          </a:prstGeom>
          <a:solidFill>
            <a:srgbClr val="F3F5F7"/>
          </a:solidFill>
          <a:ln>
            <a:solidFill>
              <a:srgbClr val="D8DF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69663" y="3776472"/>
            <a:ext cx="17190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43447"/>
                </a:solidFill>
                <a:latin typeface="Arial"/>
              </a:rPr>
              <a:t>3 donors each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3666744"/>
            <a:ext cx="1920240" cy="603504"/>
          </a:xfrm>
          <a:prstGeom prst="rect">
            <a:avLst/>
          </a:prstGeom>
          <a:solidFill>
            <a:srgbClr val="F3F5F7"/>
          </a:solidFill>
          <a:ln>
            <a:solidFill>
              <a:srgbClr val="D8DF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98464" y="3776472"/>
            <a:ext cx="1810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43447"/>
                </a:solidFill>
                <a:latin typeface="Arial"/>
              </a:rPr>
              <a:t>No current signal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458200" y="1417320"/>
            <a:ext cx="3063240" cy="2971800"/>
          </a:xfrm>
          <a:prstGeom prst="rect">
            <a:avLst/>
          </a:prstGeom>
          <a:solidFill>
            <a:srgbClr val="EDF3F6"/>
          </a:solidFill>
          <a:ln>
            <a:solidFill>
              <a:srgbClr val="3B82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32520" y="1719072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43447"/>
                </a:solidFill>
                <a:latin typeface="Arial"/>
              </a:rPr>
              <a:t>Human judgement required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32520" y="2331720"/>
            <a:ext cx="25146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43447"/>
                </a:solidFill>
                <a:latin typeface="Arial"/>
              </a:rPr>
              <a:t>The system should not convert low-level tissue binding into a pass/fail score. It should retain the tissue, intensity, reproducibility, exposure context and reviewer assessment, then request review against the nomination threshold.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" y="489204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75569"/>
                </a:solidFill>
                <a:latin typeface="Arial"/>
              </a:rPr>
              <a:t>Decision condition: expand the tissue review and define the acceptable exposure margin before final nomination.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243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064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243447"/>
                </a:solidFill>
                <a:latin typeface="Arial"/>
              </a:rPr>
              <a:t>Cytokine-release data are reassuring; platelet risk remains unresolved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8755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Arial"/>
              </a:rPr>
              <a:t>The evidence should be separated rather than collapsed into a single “safety confidence” score.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37960"/>
            <a:ext cx="11155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Arial"/>
              </a:rPr>
              <a:t>SYNTHETIC DEMONSTRATION DATA | Programme Evidence Hub source artefact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3429000" cy="3474720"/>
          </a:xfrm>
          <a:prstGeom prst="rect">
            <a:avLst/>
          </a:prstGeom>
          <a:solidFill>
            <a:srgbClr val="F3F5F7"/>
          </a:solidFill>
          <a:ln>
            <a:solidFill>
              <a:srgbClr val="2434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664208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43447"/>
                </a:solidFill>
                <a:latin typeface="Arial"/>
              </a:rPr>
              <a:t>Whole-blood cytokine assay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423160"/>
            <a:ext cx="2971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43447"/>
                </a:solidFill>
                <a:latin typeface="Arial"/>
              </a:rPr>
              <a:t>No signal to 100× cellular EC50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7033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43447"/>
                </a:solidFill>
                <a:latin typeface="Arial"/>
              </a:rPr>
              <a:t>Supports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39" y="3703320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Arial"/>
              </a:rPr>
              <a:t>Moderate quality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417320"/>
            <a:ext cx="3429000" cy="3474720"/>
          </a:xfrm>
          <a:prstGeom prst="rect">
            <a:avLst/>
          </a:prstGeom>
          <a:solidFill>
            <a:srgbClr val="F3F5F7"/>
          </a:solidFill>
          <a:ln>
            <a:solidFill>
              <a:srgbClr val="2434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8" y="1664208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43447"/>
                </a:solidFill>
                <a:latin typeface="Arial"/>
              </a:rPr>
              <a:t>Platelet activation panel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8" y="2423160"/>
            <a:ext cx="2971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43447"/>
                </a:solidFill>
                <a:latin typeface="Arial"/>
              </a:rPr>
              <a:t>No direct activation in vitro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37033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43447"/>
                </a:solidFill>
                <a:latin typeface="Arial"/>
              </a:rPr>
              <a:t>Supports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703320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Arial"/>
              </a:rPr>
              <a:t>Moderate quality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417320"/>
            <a:ext cx="3429000" cy="3474720"/>
          </a:xfrm>
          <a:prstGeom prst="rect">
            <a:avLst/>
          </a:prstGeom>
          <a:solidFill>
            <a:srgbClr val="F3F5F7"/>
          </a:solidFill>
          <a:ln>
            <a:solidFill>
              <a:srgbClr val="2434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8" y="1664208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43447"/>
                </a:solidFill>
                <a:latin typeface="Arial"/>
              </a:rPr>
              <a:t>Pilot repeat-dose study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2423160"/>
            <a:ext cx="2971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43447"/>
                </a:solidFill>
                <a:latin typeface="Arial"/>
              </a:rPr>
              <a:t>Reversible thrombocytopenia at highest exposure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8" y="37033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63A3A"/>
                </a:solidFill>
                <a:latin typeface="Arial"/>
              </a:rPr>
              <a:t>Challenges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3703320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Arial"/>
              </a:rPr>
              <a:t>Low quality, n=2/group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321808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475569"/>
                </a:solidFill>
                <a:latin typeface="Arial"/>
              </a:rPr>
              <a:t>Open question: is the platelet finding target-mediated, immune-mediated, exposure-related or incidental?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2434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064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243447"/>
                </a:solidFill>
                <a:latin typeface="Arial"/>
              </a:rPr>
              <a:t>The planned species is not fully informative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8755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Arial"/>
              </a:rPr>
              <a:t>Governance must agree an alternative translational safety package and its decision threshold.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37960"/>
            <a:ext cx="11155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Arial"/>
              </a:rPr>
              <a:t>SYNTHETIC DEMONSTRATION DATA | Programme Evidence Hub source artefact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5212080" cy="4389120"/>
          </a:xfrm>
          <a:prstGeom prst="rect">
            <a:avLst/>
          </a:prstGeom>
          <a:solidFill>
            <a:srgbClr val="F3F5F7"/>
          </a:solidFill>
          <a:ln>
            <a:solidFill>
              <a:srgbClr val="2434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4617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43447"/>
                </a:solidFill>
                <a:latin typeface="Arial"/>
              </a:rPr>
              <a:t>Observed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480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43447"/>
                </a:solidFill>
                <a:latin typeface="Arial"/>
              </a:rPr>
              <a:t>• Cynomolgus binding is weak and inconsistent.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46120"/>
            <a:ext cx="4480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43447"/>
                </a:solidFill>
                <a:latin typeface="Arial"/>
              </a:rPr>
              <a:t>• Pilot repeat-dose finding is reversible but underpowered.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069080"/>
            <a:ext cx="4480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43447"/>
                </a:solidFill>
                <a:latin typeface="Arial"/>
              </a:rPr>
              <a:t>• No integrated exposure-to-tissue-binding margin has been agreed.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417320"/>
            <a:ext cx="5212080" cy="4389120"/>
          </a:xfrm>
          <a:prstGeom prst="rect">
            <a:avLst/>
          </a:prstGeom>
          <a:solidFill>
            <a:srgbClr val="EDF3F6"/>
          </a:solidFill>
          <a:ln>
            <a:solidFill>
              <a:srgbClr val="3B82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73736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43447"/>
                </a:solidFill>
                <a:latin typeface="Arial"/>
              </a:rPr>
              <a:t>Required before nomination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331720"/>
            <a:ext cx="4572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43447"/>
                </a:solidFill>
                <a:latin typeface="Arial"/>
              </a:rPr>
              <a:t>• Alternative species / ex vivo strategy.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026663"/>
            <a:ext cx="4572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43447"/>
                </a:solidFill>
                <a:latin typeface="Arial"/>
              </a:rPr>
              <a:t>• Exposure-margin framework for relevant human tissues.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721608"/>
            <a:ext cx="4572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43447"/>
                </a:solidFill>
                <a:latin typeface="Arial"/>
              </a:rPr>
              <a:t>• Human review of whether residual uncertainty is acceptable.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416552"/>
            <a:ext cx="4572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43447"/>
                </a:solidFill>
                <a:latin typeface="Arial"/>
              </a:rPr>
              <a:t>• Recorded reconsideration trigger if new class toxicity emerges.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Slides>4</Slides>
</Properties>
</file>

<file path=docProps/core.xml><?xml version="1.0" encoding="utf-8"?>
<cp:coreProperties xmlns:cp="http://schemas.openxmlformats.org/package/2006/metadata/core-properties" xmlns:dc="http://purl.org/dc/elements/1.1/">
  <dc:title>Safety Assessment Update</dc:title>
  <dc:description>All programme details, scientific findings, and organisations are illustrative. No real company or programme data is included.</dc:description>
</cp:coreProperties>
</file>